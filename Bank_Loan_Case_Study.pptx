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Now" panose="020B0604020202020204" charset="0"/>
      <p:regular r:id="rId29"/>
    </p:embeddedFont>
    <p:embeddedFont>
      <p:font typeface="Now Bold" panose="020B0604020202020204" charset="0"/>
      <p:regular r:id="rId30"/>
    </p:embeddedFont>
    <p:embeddedFont>
      <p:font typeface="Open Sauce" panose="020B0604020202020204" charset="0"/>
      <p:regular r:id="rId31"/>
    </p:embeddedFont>
    <p:embeddedFont>
      <p:font typeface="Open Sauce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34899"/>
            <a:ext cx="16230600" cy="2994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Bank Loan Case Study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Final Project – 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4332310"/>
            <a:ext cx="16230600" cy="3859530"/>
            <a:chOff x="0" y="0"/>
            <a:chExt cx="21640800" cy="5146041"/>
          </a:xfrm>
        </p:grpSpPr>
        <p:sp>
          <p:nvSpPr>
            <p:cNvPr id="4" name="TextBox 4"/>
            <p:cNvSpPr txBox="1"/>
            <p:nvPr/>
          </p:nvSpPr>
          <p:spPr>
            <a:xfrm>
              <a:off x="0" y="-123825"/>
              <a:ext cx="21640800" cy="105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899"/>
                </a:lnSpc>
              </a:pPr>
              <a:r>
                <a:rPr lang="en-US" sz="4599">
                  <a:solidFill>
                    <a:srgbClr val="D9D9D9"/>
                  </a:solidFill>
                  <a:latin typeface="Now"/>
                  <a:ea typeface="Now"/>
                  <a:cs typeface="Now"/>
                  <a:sym typeface="Now"/>
                </a:rPr>
                <a:t>SUBMITTED BY</a:t>
              </a:r>
              <a:r>
                <a:rPr lang="en-US" sz="4599" b="1">
                  <a:solidFill>
                    <a:srgbClr val="D9D9D9"/>
                  </a:solidFill>
                  <a:latin typeface="Now Bold"/>
                  <a:ea typeface="Now Bold"/>
                  <a:cs typeface="Now Bold"/>
                  <a:sym typeface="Now Bold"/>
                </a:rPr>
                <a:t>: Tanisha Sodani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90955"/>
              <a:ext cx="21640800" cy="1045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899"/>
                </a:lnSpc>
              </a:pPr>
              <a:r>
                <a:rPr lang="en-US" sz="4599">
                  <a:solidFill>
                    <a:srgbClr val="D9D9D9"/>
                  </a:solidFill>
                  <a:latin typeface="Now"/>
                  <a:ea typeface="Now"/>
                  <a:cs typeface="Now"/>
                  <a:sym typeface="Now"/>
                </a:rPr>
                <a:t>COURSE: Data Analytics – Trainity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695575"/>
              <a:ext cx="21640800" cy="1045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899"/>
                </a:lnSpc>
              </a:pPr>
              <a:r>
                <a:rPr lang="en-US" sz="4599">
                  <a:solidFill>
                    <a:srgbClr val="D9D9D9"/>
                  </a:solidFill>
                  <a:latin typeface="Now"/>
                  <a:ea typeface="Now"/>
                  <a:cs typeface="Now"/>
                  <a:sym typeface="Now"/>
                </a:rPr>
                <a:t>TOOLS USED: Microsoft Excel 2021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100195"/>
              <a:ext cx="21640800" cy="1045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899"/>
                </a:lnSpc>
              </a:pPr>
              <a:r>
                <a:rPr lang="en-US" sz="4599">
                  <a:solidFill>
                    <a:srgbClr val="D9D9D9"/>
                  </a:solidFill>
                  <a:latin typeface="Now"/>
                  <a:ea typeface="Now"/>
                  <a:cs typeface="Now"/>
                  <a:sym typeface="Now"/>
                </a:rPr>
                <a:t>DATE: AUGUST 13, 2025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66723"/>
            <a:ext cx="9480645" cy="6147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49"/>
              </a:lnSpc>
              <a:spcBef>
                <a:spcPct val="0"/>
              </a:spcBef>
            </a:pPr>
            <a:r>
              <a:rPr lang="en-US" sz="49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Project Description</a:t>
            </a:r>
          </a:p>
          <a:p>
            <a:pPr algn="l">
              <a:lnSpc>
                <a:spcPts val="6949"/>
              </a:lnSpc>
              <a:spcBef>
                <a:spcPct val="0"/>
              </a:spcBef>
            </a:pPr>
            <a:r>
              <a:rPr lang="en-US" sz="49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Approach</a:t>
            </a:r>
          </a:p>
          <a:p>
            <a:pPr algn="l">
              <a:lnSpc>
                <a:spcPts val="6949"/>
              </a:lnSpc>
              <a:spcBef>
                <a:spcPct val="0"/>
              </a:spcBef>
            </a:pPr>
            <a:r>
              <a:rPr lang="en-US" sz="49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Tech-Stack Used</a:t>
            </a:r>
          </a:p>
          <a:p>
            <a:pPr algn="l">
              <a:lnSpc>
                <a:spcPts val="6949"/>
              </a:lnSpc>
              <a:spcBef>
                <a:spcPct val="0"/>
              </a:spcBef>
            </a:pPr>
            <a:r>
              <a:rPr lang="en-US" sz="49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Cleaning &amp; Preprocessing</a:t>
            </a:r>
          </a:p>
          <a:p>
            <a:pPr algn="l">
              <a:lnSpc>
                <a:spcPts val="6949"/>
              </a:lnSpc>
              <a:spcBef>
                <a:spcPct val="0"/>
              </a:spcBef>
            </a:pPr>
            <a:r>
              <a:rPr lang="en-US" sz="49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analytics tasks</a:t>
            </a:r>
          </a:p>
          <a:p>
            <a:pPr algn="l">
              <a:lnSpc>
                <a:spcPts val="6949"/>
              </a:lnSpc>
              <a:spcBef>
                <a:spcPct val="0"/>
              </a:spcBef>
            </a:pPr>
            <a:r>
              <a:rPr lang="en-US" sz="49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Insights</a:t>
            </a:r>
          </a:p>
          <a:p>
            <a:pPr algn="l">
              <a:lnSpc>
                <a:spcPts val="6949"/>
              </a:lnSpc>
              <a:spcBef>
                <a:spcPct val="0"/>
              </a:spcBef>
            </a:pPr>
            <a:r>
              <a:rPr lang="en-US" sz="49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Result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19150"/>
            <a:ext cx="16230600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  <a:spcBef>
                <a:spcPct val="0"/>
              </a:spcBef>
            </a:pPr>
            <a:r>
              <a:rPr lang="en-US" sz="7500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33625"/>
            <a:ext cx="16230600" cy="692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project analyzes loan application data for a finance company to identify factors that influence loan default risk. The dataset contains customer demographics, financial attributes, and loan details.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objective is to perform Exploratory Data Analysis (EDA) to uncover patterns that distinguish customers likely to default from those who will repay on time. The study includes: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Identifying and handling missing data.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Detecting and treating outliers.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Assessing data imbalance in the target variable.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Conducting univariate, segmented univariate, and bivariate analyses.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Finding top correlations between variables and loan default.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findings aim to help the company improve its loan approval process, reduce financial losses, and approve more capable borrowers.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19150"/>
            <a:ext cx="16230600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  <a:spcBef>
                <a:spcPct val="0"/>
              </a:spcBef>
            </a:pPr>
            <a:r>
              <a:rPr lang="en-US" sz="7500" b="1">
                <a:solidFill>
                  <a:srgbClr val="FDFEFE"/>
                </a:solidFill>
                <a:latin typeface="Now Bold"/>
                <a:ea typeface="Now Bold"/>
                <a:cs typeface="Now Bold"/>
                <a:sym typeface="Now Bold"/>
              </a:rPr>
              <a:t> PROJECT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19150"/>
            <a:ext cx="16230600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  <a:spcBef>
                <a:spcPct val="0"/>
              </a:spcBef>
            </a:pPr>
            <a:r>
              <a:rPr lang="en-US" sz="7500" b="1">
                <a:solidFill>
                  <a:srgbClr val="FDFEFE"/>
                </a:solidFill>
                <a:latin typeface="Now Bold"/>
                <a:ea typeface="Now Bold"/>
                <a:cs typeface="Now Bold"/>
                <a:sym typeface="Now Bold"/>
              </a:rPr>
              <a:t>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65853"/>
            <a:ext cx="16230600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DFEFE"/>
                </a:solidFill>
                <a:latin typeface="Open Sauce"/>
                <a:ea typeface="Open Sauce"/>
                <a:cs typeface="Open Sauce"/>
                <a:sym typeface="Open Sauce"/>
              </a:rPr>
              <a:t>Cleaned data: handled missing values, removed irrelevant columns, treated outliers.</a:t>
            </a:r>
          </a:p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DFEFE"/>
                </a:solidFill>
                <a:latin typeface="Open Sauce"/>
                <a:ea typeface="Open Sauce"/>
                <a:cs typeface="Open Sauce"/>
                <a:sym typeface="Open Sauce"/>
              </a:rPr>
              <a:t>Performed EDA: univariate, segmented univariate, and bivariate analysis.</a:t>
            </a:r>
          </a:p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DFEFE"/>
                </a:solidFill>
                <a:latin typeface="Open Sauce"/>
                <a:ea typeface="Open Sauce"/>
                <a:cs typeface="Open Sauce"/>
                <a:sym typeface="Open Sauce"/>
              </a:rPr>
              <a:t>Used Excel functions &amp; charts for statistical insights.</a:t>
            </a:r>
          </a:p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DFEFE"/>
                </a:solidFill>
                <a:latin typeface="Open Sauce"/>
                <a:ea typeface="Open Sauce"/>
                <a:cs typeface="Open Sauce"/>
                <a:sym typeface="Open Sauce"/>
              </a:rPr>
              <a:t>Identified key variables affecting loan default.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90575"/>
            <a:ext cx="16230600" cy="153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49"/>
              </a:lnSpc>
              <a:spcBef>
                <a:spcPct val="0"/>
              </a:spcBef>
            </a:pPr>
            <a:r>
              <a:rPr lang="en-US" sz="8499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TECH-STACK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011294"/>
            <a:ext cx="16230600" cy="481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7" lvl="1" indent="-485773" algn="l">
              <a:lnSpc>
                <a:spcPts val="6749"/>
              </a:lnSpc>
              <a:buFont typeface="Arial"/>
              <a:buChar char="•"/>
            </a:pPr>
            <a:r>
              <a:rPr lang="en-US" sz="449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Microsoft Excel 2021</a:t>
            </a:r>
            <a:r>
              <a:rPr lang="en-US" sz="44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– </a:t>
            </a:r>
          </a:p>
          <a:p>
            <a:pPr algn="l">
              <a:lnSpc>
                <a:spcPts val="599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Data cleaning, statistical analysis, visualization.</a:t>
            </a:r>
          </a:p>
          <a:p>
            <a:pPr marL="971561" lvl="1" indent="-485781" algn="l">
              <a:lnSpc>
                <a:spcPts val="6750"/>
              </a:lnSpc>
              <a:buFont typeface="Arial"/>
              <a:buChar char="•"/>
            </a:pPr>
            <a:r>
              <a:rPr lang="en-US" sz="45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Excel Functions –</a:t>
            </a:r>
            <a:r>
              <a:rPr lang="en-US" sz="450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6000"/>
              </a:lnSpc>
            </a:pPr>
            <a:r>
              <a:rPr lang="en-US" sz="400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COUNT, COUNTIF, IF, MEDIAN, QUARTILE, CORREL.</a:t>
            </a:r>
          </a:p>
          <a:p>
            <a:pPr marL="971561" lvl="1" indent="-485781" algn="l">
              <a:lnSpc>
                <a:spcPts val="6750"/>
              </a:lnSpc>
              <a:buFont typeface="Arial"/>
              <a:buChar char="•"/>
            </a:pPr>
            <a:r>
              <a:rPr lang="en-US" sz="45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Excel Features – </a:t>
            </a:r>
          </a:p>
          <a:p>
            <a:pPr algn="l">
              <a:lnSpc>
                <a:spcPts val="6000"/>
              </a:lnSpc>
            </a:pPr>
            <a:r>
              <a:rPr lang="en-US" sz="400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Pivot Tables, Conditional Formatting, Filters, Sorting,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8839" y="3988111"/>
            <a:ext cx="14950321" cy="1996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99"/>
              </a:lnSpc>
              <a:spcBef>
                <a:spcPct val="0"/>
              </a:spcBef>
            </a:pPr>
            <a:r>
              <a:rPr lang="en-US" sz="10999" b="1">
                <a:solidFill>
                  <a:srgbClr val="FDFEFE"/>
                </a:solidFill>
                <a:latin typeface="Now Bold"/>
                <a:ea typeface="Now Bold"/>
                <a:cs typeface="Now Bold"/>
                <a:sym typeface="Now Bold"/>
              </a:rPr>
              <a:t>Data Analytics Tasks: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27836"/>
            <a:ext cx="16230600" cy="1309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779"/>
              </a:lnSpc>
            </a:pPr>
            <a:r>
              <a:rPr lang="en-US" sz="76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Identify </a:t>
            </a:r>
            <a:r>
              <a:rPr lang="en-US" sz="7699" b="1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Missing Data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32760"/>
            <a:ext cx="16230600" cy="1590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 identify and handle missing values in the loan application dataset to ensure accurate analysis.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418987"/>
            <a:ext cx="16230600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APPROACH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Calculated missing percentage using: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  =COUNTBLANK(range)/COUNTA(range) * 100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Created a summary table of columns with missing values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Deleted columns with high missing % or low relevance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Used Excel functions: COUNTBLANK, IF, MEDIAN (for imputation)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159544"/>
            <a:ext cx="8081707" cy="4859127"/>
          </a:xfrm>
          <a:custGeom>
            <a:avLst/>
            <a:gdLst/>
            <a:ahLst/>
            <a:cxnLst/>
            <a:rect l="l" t="t" r="r" b="b"/>
            <a:pathLst>
              <a:path w="8081707" h="4859127">
                <a:moveTo>
                  <a:pt x="0" y="0"/>
                </a:moveTo>
                <a:lnTo>
                  <a:pt x="8081707" y="0"/>
                </a:lnTo>
                <a:lnTo>
                  <a:pt x="8081707" y="4859127"/>
                </a:lnTo>
                <a:lnTo>
                  <a:pt x="0" y="485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925186"/>
            <a:ext cx="1623060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VISUALIZATION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Prepared a bar chart to show the % of missing values per column (sorted by highest %).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14985" y="3422935"/>
            <a:ext cx="8165244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Removed 40+ columns with high missing percentages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Imputed key numeric fields (e.g., EXT_SOURCE, AMT_ANNUITY) using median values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Filled low-missing categorical columns using direct/manual fill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Retained relevant features like OCCUPATION_TYPE (31% missing) due to its analytical importance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47345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Deal with Missing Data Appropriatel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12928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Outlier Detection and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81561"/>
            <a:ext cx="16230600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Objective: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Detect and examine outliers in key loan application fields to improve data quality.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639704"/>
            <a:ext cx="16089824" cy="504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Approach:</a:t>
            </a: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Selected main numeric columns: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   AMT_CREDIT, AMT_ANNUITY, AMT_GOODS_PRICE, AMT_INCOME_TOTAL</a:t>
            </a: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Used Excel to:</a:t>
            </a:r>
          </a:p>
          <a:p>
            <a:pPr marL="1381758" lvl="2" indent="-460586" algn="l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Calculate Q1 and Q3 with QUARTILE</a:t>
            </a:r>
          </a:p>
          <a:p>
            <a:pPr marL="1381758" lvl="2" indent="-460586" algn="l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Compute the IQR (Interquartile Range)</a:t>
            </a:r>
          </a:p>
          <a:p>
            <a:pPr marL="1381758" lvl="2" indent="-460586" algn="l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Define Lower and Upper Bounds</a:t>
            </a: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Applied Conditional Formatting to flag outlier cells</a:t>
            </a: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Built box plots to visualize distributions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56630" y="1588342"/>
            <a:ext cx="5920009" cy="3555158"/>
          </a:xfrm>
          <a:custGeom>
            <a:avLst/>
            <a:gdLst/>
            <a:ahLst/>
            <a:cxnLst/>
            <a:rect l="l" t="t" r="r" b="b"/>
            <a:pathLst>
              <a:path w="5920009" h="3555158">
                <a:moveTo>
                  <a:pt x="0" y="0"/>
                </a:moveTo>
                <a:lnTo>
                  <a:pt x="5920008" y="0"/>
                </a:lnTo>
                <a:lnTo>
                  <a:pt x="5920008" y="3555158"/>
                </a:lnTo>
                <a:lnTo>
                  <a:pt x="0" y="355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01812" y="5925998"/>
            <a:ext cx="5912126" cy="3555158"/>
          </a:xfrm>
          <a:custGeom>
            <a:avLst/>
            <a:gdLst/>
            <a:ahLst/>
            <a:cxnLst/>
            <a:rect l="l" t="t" r="r" b="b"/>
            <a:pathLst>
              <a:path w="5912126" h="3555158">
                <a:moveTo>
                  <a:pt x="0" y="0"/>
                </a:moveTo>
                <a:lnTo>
                  <a:pt x="5912126" y="0"/>
                </a:lnTo>
                <a:lnTo>
                  <a:pt x="5912126" y="3555159"/>
                </a:lnTo>
                <a:lnTo>
                  <a:pt x="0" y="3555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01812" y="1588342"/>
            <a:ext cx="5912126" cy="3555158"/>
          </a:xfrm>
          <a:custGeom>
            <a:avLst/>
            <a:gdLst/>
            <a:ahLst/>
            <a:cxnLst/>
            <a:rect l="l" t="t" r="r" b="b"/>
            <a:pathLst>
              <a:path w="5912126" h="3555158">
                <a:moveTo>
                  <a:pt x="0" y="0"/>
                </a:moveTo>
                <a:lnTo>
                  <a:pt x="5912126" y="0"/>
                </a:lnTo>
                <a:lnTo>
                  <a:pt x="5912126" y="3555158"/>
                </a:lnTo>
                <a:lnTo>
                  <a:pt x="0" y="3555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56630" y="5925998"/>
            <a:ext cx="5920009" cy="3559899"/>
          </a:xfrm>
          <a:custGeom>
            <a:avLst/>
            <a:gdLst/>
            <a:ahLst/>
            <a:cxnLst/>
            <a:rect l="l" t="t" r="r" b="b"/>
            <a:pathLst>
              <a:path w="5920009" h="3559899">
                <a:moveTo>
                  <a:pt x="0" y="0"/>
                </a:moveTo>
                <a:lnTo>
                  <a:pt x="5920008" y="0"/>
                </a:lnTo>
                <a:lnTo>
                  <a:pt x="5920008" y="3559899"/>
                </a:lnTo>
                <a:lnTo>
                  <a:pt x="0" y="3559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4714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Outlier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Outlier 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12706"/>
            <a:ext cx="16230600" cy="406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All analyzed variables show clear presence of outliers above the upper threshold.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AMT_CREDIT and AMT_GOODS_PRICE have many moderate to high outliers.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AMT_ANNUITY contains fewer but notable outlier payments.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AMT_INCOME_TOTAL displays extreme income values that are significantly higher than the majority of observations and may skew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1888"/>
            <a:ext cx="16230600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  <a:spcBef>
                <a:spcPct val="0"/>
              </a:spcBef>
            </a:pPr>
            <a:r>
              <a:rPr lang="en-US" sz="7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Imbalance Analysis</a:t>
            </a:r>
          </a:p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55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 &amp;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361334"/>
            <a:ext cx="16230600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Objective: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Analyze the distribution of target classes to understand class imbalance.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833530"/>
            <a:ext cx="16230600" cy="337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0"/>
              </a:lnSpc>
            </a:pPr>
            <a:r>
              <a:rPr lang="en-US" sz="32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Approach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Used Excel functions (COUNTIF, SUM) to calculate the frequency of each target class.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Computed the proportion and imbalance ratio between classes.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Created a pie chart to visualize the distribution.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24605" y="4187983"/>
            <a:ext cx="6934695" cy="4168194"/>
          </a:xfrm>
          <a:custGeom>
            <a:avLst/>
            <a:gdLst/>
            <a:ahLst/>
            <a:cxnLst/>
            <a:rect l="l" t="t" r="r" b="b"/>
            <a:pathLst>
              <a:path w="6934695" h="4168194">
                <a:moveTo>
                  <a:pt x="0" y="0"/>
                </a:moveTo>
                <a:lnTo>
                  <a:pt x="6934695" y="0"/>
                </a:lnTo>
                <a:lnTo>
                  <a:pt x="6934695" y="4168195"/>
                </a:lnTo>
                <a:lnTo>
                  <a:pt x="0" y="4168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00378"/>
            <a:ext cx="16230600" cy="224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59"/>
              </a:lnSpc>
              <a:spcBef>
                <a:spcPct val="0"/>
              </a:spcBef>
            </a:pPr>
            <a:r>
              <a:rPr lang="en-US" sz="73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Imbalance Analysis</a:t>
            </a:r>
          </a:p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Visualization &amp; Insights 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23497"/>
            <a:ext cx="8497971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Dataset is highly imbalanced: ~92% non-defaulters, ~8% defaulters.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Imbalance ratio ≈ 11.4:1, showing a strong class skew.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may bias models and reduce accuracy for defaulter prediction.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Balancing techniques will be needed during model building.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35624"/>
            <a:ext cx="16230600" cy="247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Perform Univariate, Segmented Univariate, and Bivariate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190519"/>
            <a:ext cx="16230600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 analyze loan applicant and loan attributes individually and in relation to loan default status, identifying patterns and differences between defaulters and non-defaulters.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057419"/>
            <a:ext cx="16230600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Approach: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Univariate Analysis: Studied individual variable distributions using descriptive statistics (COUNT, AVERAGE, MEDIAN).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Segmented Univariate Analysis: Compared variable distributions between TARGET=0 and TARGET=1.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Bivariate Analysis: Explored relationships between two variables and the target variable using pivot tables and scatter plots.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25399"/>
            <a:ext cx="6402362" cy="3337231"/>
          </a:xfrm>
          <a:custGeom>
            <a:avLst/>
            <a:gdLst/>
            <a:ahLst/>
            <a:cxnLst/>
            <a:rect l="l" t="t" r="r" b="b"/>
            <a:pathLst>
              <a:path w="6402362" h="3337231">
                <a:moveTo>
                  <a:pt x="0" y="0"/>
                </a:moveTo>
                <a:lnTo>
                  <a:pt x="6402362" y="0"/>
                </a:lnTo>
                <a:lnTo>
                  <a:pt x="6402362" y="3337231"/>
                </a:lnTo>
                <a:lnTo>
                  <a:pt x="0" y="3337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102542" y="1725399"/>
            <a:ext cx="6387045" cy="3337231"/>
          </a:xfrm>
          <a:custGeom>
            <a:avLst/>
            <a:gdLst/>
            <a:ahLst/>
            <a:cxnLst/>
            <a:rect l="l" t="t" r="r" b="b"/>
            <a:pathLst>
              <a:path w="6387045" h="3337231">
                <a:moveTo>
                  <a:pt x="0" y="0"/>
                </a:moveTo>
                <a:lnTo>
                  <a:pt x="6387045" y="0"/>
                </a:lnTo>
                <a:lnTo>
                  <a:pt x="6387045" y="3337231"/>
                </a:lnTo>
                <a:lnTo>
                  <a:pt x="0" y="3337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5643485"/>
            <a:ext cx="6402362" cy="3345234"/>
          </a:xfrm>
          <a:custGeom>
            <a:avLst/>
            <a:gdLst/>
            <a:ahLst/>
            <a:cxnLst/>
            <a:rect l="l" t="t" r="r" b="b"/>
            <a:pathLst>
              <a:path w="6402362" h="3345234">
                <a:moveTo>
                  <a:pt x="0" y="0"/>
                </a:moveTo>
                <a:lnTo>
                  <a:pt x="6402362" y="0"/>
                </a:lnTo>
                <a:lnTo>
                  <a:pt x="6402362" y="3345234"/>
                </a:lnTo>
                <a:lnTo>
                  <a:pt x="0" y="33452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933438" y="5762850"/>
            <a:ext cx="6556149" cy="3225869"/>
          </a:xfrm>
          <a:custGeom>
            <a:avLst/>
            <a:gdLst/>
            <a:ahLst/>
            <a:cxnLst/>
            <a:rect l="l" t="t" r="r" b="b"/>
            <a:pathLst>
              <a:path w="6556149" h="3225869">
                <a:moveTo>
                  <a:pt x="0" y="0"/>
                </a:moveTo>
                <a:lnTo>
                  <a:pt x="6556149" y="0"/>
                </a:lnTo>
                <a:lnTo>
                  <a:pt x="6556149" y="3225869"/>
                </a:lnTo>
                <a:lnTo>
                  <a:pt x="0" y="3225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806" b="-224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41233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Univariate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Univariate Analysis 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8052" y="2625163"/>
            <a:ext cx="16021248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Most applicants have lower income and smaller loan amounts; distributions are right-skewed.</a:t>
            </a:r>
          </a:p>
          <a:p>
            <a:pPr marL="863599" lvl="1" indent="-431800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Majority of loans are Cash loans.</a:t>
            </a:r>
          </a:p>
          <a:p>
            <a:pPr marL="863599" lvl="1" indent="-431800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Most are Working, have Secondary education, and work as Laborers or Sales staff.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687557"/>
            <a:ext cx="7669626" cy="3511131"/>
          </a:xfrm>
          <a:custGeom>
            <a:avLst/>
            <a:gdLst/>
            <a:ahLst/>
            <a:cxnLst/>
            <a:rect l="l" t="t" r="r" b="b"/>
            <a:pathLst>
              <a:path w="7669626" h="3511131">
                <a:moveTo>
                  <a:pt x="0" y="0"/>
                </a:moveTo>
                <a:lnTo>
                  <a:pt x="7669626" y="0"/>
                </a:lnTo>
                <a:lnTo>
                  <a:pt x="7669626" y="3511131"/>
                </a:lnTo>
                <a:lnTo>
                  <a:pt x="0" y="3511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742606"/>
            <a:ext cx="7669626" cy="3120973"/>
          </a:xfrm>
          <a:custGeom>
            <a:avLst/>
            <a:gdLst/>
            <a:ahLst/>
            <a:cxnLst/>
            <a:rect l="l" t="t" r="r" b="b"/>
            <a:pathLst>
              <a:path w="7669626" h="3120973">
                <a:moveTo>
                  <a:pt x="0" y="0"/>
                </a:moveTo>
                <a:lnTo>
                  <a:pt x="7669626" y="0"/>
                </a:lnTo>
                <a:lnTo>
                  <a:pt x="7669626" y="3120973"/>
                </a:lnTo>
                <a:lnTo>
                  <a:pt x="0" y="3120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16878" y="1742606"/>
            <a:ext cx="7242422" cy="3185816"/>
          </a:xfrm>
          <a:custGeom>
            <a:avLst/>
            <a:gdLst/>
            <a:ahLst/>
            <a:cxnLst/>
            <a:rect l="l" t="t" r="r" b="b"/>
            <a:pathLst>
              <a:path w="7242422" h="3185816">
                <a:moveTo>
                  <a:pt x="0" y="0"/>
                </a:moveTo>
                <a:lnTo>
                  <a:pt x="7242422" y="0"/>
                </a:lnTo>
                <a:lnTo>
                  <a:pt x="7242422" y="3185816"/>
                </a:lnTo>
                <a:lnTo>
                  <a:pt x="0" y="3185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16878" y="5687557"/>
            <a:ext cx="7242422" cy="3373444"/>
          </a:xfrm>
          <a:custGeom>
            <a:avLst/>
            <a:gdLst/>
            <a:ahLst/>
            <a:cxnLst/>
            <a:rect l="l" t="t" r="r" b="b"/>
            <a:pathLst>
              <a:path w="7242422" h="3373444">
                <a:moveTo>
                  <a:pt x="0" y="0"/>
                </a:moveTo>
                <a:lnTo>
                  <a:pt x="7242422" y="0"/>
                </a:lnTo>
                <a:lnTo>
                  <a:pt x="7242422" y="3373444"/>
                </a:lnTo>
                <a:lnTo>
                  <a:pt x="0" y="3373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44754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Segmented Univariate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57948"/>
            <a:ext cx="16230600" cy="247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Segmented Univariate Analysis 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480544"/>
            <a:ext cx="16230600" cy="447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Non-defaulters have slightly higher average income, loan amounts, and external scores.</a:t>
            </a:r>
          </a:p>
          <a:p>
            <a:pPr marL="863599" lvl="1" indent="-431800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Lower education levels and certain occupations (Laborers, Drivers) have higher default rates.</a:t>
            </a:r>
          </a:p>
          <a:p>
            <a:pPr marL="863599" lvl="1" indent="-431800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Male applicants show a slightly higher proportion of defaults compared to females.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00860" y="5701941"/>
            <a:ext cx="6154719" cy="3745633"/>
          </a:xfrm>
          <a:custGeom>
            <a:avLst/>
            <a:gdLst/>
            <a:ahLst/>
            <a:cxnLst/>
            <a:rect l="l" t="t" r="r" b="b"/>
            <a:pathLst>
              <a:path w="6154719" h="3745633">
                <a:moveTo>
                  <a:pt x="0" y="0"/>
                </a:moveTo>
                <a:lnTo>
                  <a:pt x="6154719" y="0"/>
                </a:lnTo>
                <a:lnTo>
                  <a:pt x="6154719" y="3745633"/>
                </a:lnTo>
                <a:lnTo>
                  <a:pt x="0" y="374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00860" y="1648564"/>
            <a:ext cx="6154719" cy="3739088"/>
          </a:xfrm>
          <a:custGeom>
            <a:avLst/>
            <a:gdLst/>
            <a:ahLst/>
            <a:cxnLst/>
            <a:rect l="l" t="t" r="r" b="b"/>
            <a:pathLst>
              <a:path w="6154719" h="3739088">
                <a:moveTo>
                  <a:pt x="0" y="0"/>
                </a:moveTo>
                <a:lnTo>
                  <a:pt x="6154719" y="0"/>
                </a:lnTo>
                <a:lnTo>
                  <a:pt x="6154719" y="3739088"/>
                </a:lnTo>
                <a:lnTo>
                  <a:pt x="0" y="3739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1491" y="1729948"/>
            <a:ext cx="6001116" cy="3576320"/>
          </a:xfrm>
          <a:custGeom>
            <a:avLst/>
            <a:gdLst/>
            <a:ahLst/>
            <a:cxnLst/>
            <a:rect l="l" t="t" r="r" b="b"/>
            <a:pathLst>
              <a:path w="6001116" h="3576320">
                <a:moveTo>
                  <a:pt x="0" y="0"/>
                </a:moveTo>
                <a:lnTo>
                  <a:pt x="6001116" y="0"/>
                </a:lnTo>
                <a:lnTo>
                  <a:pt x="6001116" y="3576320"/>
                </a:lnTo>
                <a:lnTo>
                  <a:pt x="0" y="3576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83" r="-178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1491" y="5701941"/>
            <a:ext cx="6001116" cy="3657056"/>
          </a:xfrm>
          <a:custGeom>
            <a:avLst/>
            <a:gdLst/>
            <a:ahLst/>
            <a:cxnLst/>
            <a:rect l="l" t="t" r="r" b="b"/>
            <a:pathLst>
              <a:path w="6001116" h="3657056">
                <a:moveTo>
                  <a:pt x="0" y="0"/>
                </a:moveTo>
                <a:lnTo>
                  <a:pt x="6001116" y="0"/>
                </a:lnTo>
                <a:lnTo>
                  <a:pt x="6001116" y="3657056"/>
                </a:lnTo>
                <a:lnTo>
                  <a:pt x="0" y="36570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14404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Bivariate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Bivariate Analysis 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47975"/>
            <a:ext cx="16230600" cy="447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AMT_CREDIT vs AMT_ANNUITY: Very strong positive correlation (~0.77).</a:t>
            </a:r>
          </a:p>
          <a:p>
            <a:pPr marL="863599" lvl="1" indent="-431800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AMT_INCOME_TOTAL vs AMT_CREDIT: Moderate positive correlation (~0.36).</a:t>
            </a:r>
          </a:p>
          <a:p>
            <a:pPr marL="863599" lvl="1" indent="-431800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External source scores have weak correlations with amounts but are still valuable predictors.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518875"/>
            <a:ext cx="16230600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Objective: 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 identify the strongest predictors of loan default by analyzing correlations for defaulters and non-defaulters separately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531385"/>
            <a:ext cx="16230600" cy="390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Approach: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Segmented the dataset into two groups based on TARGET.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Used Excel =CORREL() to calculate correlations between numeric variables and TARGET.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Ranked variables by absolute correlation value.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Highlighted top 3 indicators for each segment.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Visualized results using correlation heatmaps and summary tables.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757513"/>
            <a:ext cx="182880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 Correlations for Different Scenarios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708250"/>
            <a:ext cx="16230600" cy="431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These heatmaps display the correlation patterns for two groups:</a:t>
            </a:r>
          </a:p>
          <a:p>
            <a:pPr marL="1511301" lvl="2" indent="-503767" algn="l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Target = 0: Clients without payment difficulties</a:t>
            </a:r>
          </a:p>
          <a:p>
            <a:pPr marL="1511301" lvl="2" indent="-503767" algn="l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Target = 1: Clients with payment difficulties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Color legend:</a:t>
            </a:r>
          </a:p>
          <a:p>
            <a:pPr marL="1511301" lvl="2" indent="-503767" algn="l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Yellow: Strong positive correlation</a:t>
            </a:r>
          </a:p>
          <a:p>
            <a:pPr marL="1511301" lvl="2" indent="-503767" algn="l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Pink/Red: Strong negative correlation</a:t>
            </a:r>
          </a:p>
          <a:p>
            <a:pPr marL="1511301" lvl="2" indent="-503767" algn="l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Green: Weak correlation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92609"/>
            <a:ext cx="16230600" cy="247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Understanding the Correlation Heatmaps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3466546" y="2356510"/>
          <a:ext cx="10544175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649200" imgH="5448300" progId="Excel.Sheet.12">
                  <p:embed/>
                </p:oleObj>
              </mc:Choice>
              <mc:Fallback>
                <p:oleObj name="Worksheet" r:id="rId2" imgW="12649200" imgH="5448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66546" y="2356510"/>
                        <a:ext cx="10544175" cy="335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929997" y="347345"/>
            <a:ext cx="16311324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Visualization: Defaulters (TARGET=0)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6679" y="6184354"/>
            <a:ext cx="16212621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</a:t>
            </a: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Strongest correlation: AMT_CREDIT &amp; AMT_ANNUITY (0.76) – consistent loan-payment relationship.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Income–Credit relationship: Moderate (0.38) – loan amounts are better aligned with client incomes, supporting repayment ability.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47345"/>
            <a:ext cx="16113919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Visualization: Defaulters (TARGET=1)</a:t>
            </a:r>
          </a:p>
        </p:txBody>
      </p:sp>
      <p:graphicFrame>
        <p:nvGraphicFramePr>
          <p:cNvPr id="3" name="Object 3"/>
          <p:cNvGraphicFramePr/>
          <p:nvPr/>
        </p:nvGraphicFramePr>
        <p:xfrm>
          <a:off x="3218936" y="2329745"/>
          <a:ext cx="10715625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852400" imgH="5486400" progId="Excel.Sheet.12">
                  <p:embed/>
                </p:oleObj>
              </mc:Choice>
              <mc:Fallback>
                <p:oleObj name="Worksheet" r:id="rId2" imgW="12852400" imgH="5486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18936" y="2329745"/>
                        <a:ext cx="10715625" cy="335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8700" y="6175280"/>
            <a:ext cx="16113919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Strongest correlation: AMT_CREDIT &amp; AMT_ANNUITY (0.75) – higher loan amounts lead to higher annuity payments.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Income–Credit relationship: Very weak (0.015) – indicates loans may not be proportionate to income, possibly leading to defaults.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47345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22024"/>
            <a:ext cx="16230600" cy="728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Missing Data Handling: Many columns had high missing values; 40+ were removed, and key numeric/categorical fields were imputed to preserve useful information.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Outlier Detection: Outliers were identified in variables like income, credit, and annuity; extreme anomalies were reviewed to prevent skewed analysis.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Imbalance: The target variable showed imbalance, with non-defaulters forming the majority, requiring attention for fair modeling.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Univariate &amp; Segmented Analysis: Loan defaults were more common among lower-income, lower-education, and certain occupational groups; non-defaulters had higher external scores and incomes.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Bivariate &amp; Correlation Analysis: Strong link between loan amount and annuity across all clients; income-to-loan relationship is weaker among defaulters, highlighting risk in granting high loans without income alignment.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6230600" cy="12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33650"/>
            <a:ext cx="16230600" cy="569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Successfully cleaned the dataset by handling missing values and removing irrelevant columns.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Identified and addressed outliers to improve analysis accuracy.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Detected target variable imbalance and quantified its ratio.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Analyzed variable distributions (univariate, segmented, bivariate) to uncover loan default patterns.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Identified top correlated variables for different customer segments (defaulters vs. non-defaulters).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Generated actionable insights to support risk assessment and loan approval decisions.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27266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3754522" cy="3754522"/>
            <a:chOff x="0" y="0"/>
            <a:chExt cx="5006029" cy="5006029"/>
          </a:xfrm>
        </p:grpSpPr>
        <p:grpSp>
          <p:nvGrpSpPr>
            <p:cNvPr id="3" name="Group 3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grpSp>
        <p:nvGrpSpPr>
          <p:cNvPr id="25" name="Group 25"/>
          <p:cNvGrpSpPr/>
          <p:nvPr/>
        </p:nvGrpSpPr>
        <p:grpSpPr>
          <a:xfrm>
            <a:off x="14533478" y="6532478"/>
            <a:ext cx="3754522" cy="3754522"/>
            <a:chOff x="0" y="0"/>
            <a:chExt cx="5006029" cy="5006029"/>
          </a:xfrm>
        </p:grpSpPr>
        <p:grpSp>
          <p:nvGrpSpPr>
            <p:cNvPr id="26" name="Group 26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221E34"/>
              </a:solidFill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sp>
        <p:nvSpPr>
          <p:cNvPr id="48" name="TextBox 48"/>
          <p:cNvSpPr txBox="1"/>
          <p:nvPr/>
        </p:nvSpPr>
        <p:spPr>
          <a:xfrm>
            <a:off x="1028700" y="3946843"/>
            <a:ext cx="16230600" cy="215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00"/>
              </a:lnSpc>
              <a:spcBef>
                <a:spcPct val="0"/>
              </a:spcBef>
            </a:pPr>
            <a:r>
              <a:rPr lang="en-US" sz="12500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1350</Words>
  <Application>Microsoft Office PowerPoint</Application>
  <PresentationFormat>Custom</PresentationFormat>
  <Paragraphs>147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Open Sauce Bold</vt:lpstr>
      <vt:lpstr>Now Bold</vt:lpstr>
      <vt:lpstr>Now</vt:lpstr>
      <vt:lpstr>Calibri</vt:lpstr>
      <vt:lpstr>Open Sauce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 Missing Data and Deal with it Appropriately:</dc:title>
  <cp:lastModifiedBy>Tanisha Sodani</cp:lastModifiedBy>
  <cp:revision>2</cp:revision>
  <dcterms:created xsi:type="dcterms:W3CDTF">2006-08-16T00:00:00Z</dcterms:created>
  <dcterms:modified xsi:type="dcterms:W3CDTF">2025-08-17T15:04:32Z</dcterms:modified>
  <dc:identifier>DAGtI6fP5Eo</dc:identifier>
</cp:coreProperties>
</file>